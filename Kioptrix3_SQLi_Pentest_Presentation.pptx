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47" autoAdjust="0"/>
    <p:restoredTop sz="98923" autoAdjust="0"/>
  </p:normalViewPr>
  <p:slideViewPr>
    <p:cSldViewPr snapToGrid="0" snapToObjects="1">
      <p:cViewPr>
        <p:scale>
          <a:sx n="75" d="100"/>
          <a:sy n="75" d="100"/>
        </p:scale>
        <p:origin x="-534" y="-3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2F2F2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F2F2F2"/>
                </a:solidFill>
                <a:latin typeface="Arial"/>
              </a:rPr>
              <a:t>10 Findings Total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Findings by 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bubble3D val="0"/>
            <c:spPr>
              <a:solidFill>
                <a:srgbClr val="F2C94C"/>
              </a:solidFill>
              <a:effectLst/>
            </c:spPr>
          </c:dPt>
          <c:dPt>
            <c:idx val="2"/>
            <c:bubble3D val="0"/>
            <c:spPr>
              <a:solidFill>
                <a:srgbClr val="39D98A"/>
              </a:solidFill>
              <a:effectLst/>
            </c:spPr>
          </c:dPt>
          <c:dPt>
            <c:idx val="3"/>
            <c:bubble3D val="0"/>
            <c:spPr>
              <a:solidFill>
                <a:srgbClr val="58A6F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2F2F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447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jpe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44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40080"/>
            <a:ext cx="1371600" cy="137160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3" name="Image 0" descr="/home/claude/work2/pptxbuild/icons/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292" y="1010412"/>
            <a:ext cx="630936" cy="6309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 REPORT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240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Kioptrix Level 3 (VM3)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SQL Injection &amp; Unauthenticated RCE to Full Root Compromise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069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 — Network &amp; Cybersecurity Track 26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— Penetration Testing &amp; Application Security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192.168.56.106 / kioptrix3.com   |   Date: August 2026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532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760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Abdulrahman Wael Nabil   •   Abdulrahman Hossam Shaat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Mansour Mohamed   •   Mohamed Ali   •   Mohamed Farid</a:t>
            </a:r>
            <a:endParaRPr 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" y="278130"/>
            <a:ext cx="1047750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50" y="5705475"/>
            <a:ext cx="1619250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5" name="Image 0" descr="/home/claude/work2/pptxbuild/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6802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361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scope &amp; methodology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0332720" y="15361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9D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2194560"/>
            <a:ext cx="1088136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0" name="Image 1" descr="/home/claude/work2/pptxbuild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24574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3134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&amp; enumeration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0332720" y="23134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9D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40080" y="2971800"/>
            <a:ext cx="1088136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5" name="Image 2" descr="/home/claude/work2/pptxbuild/icons/b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32346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09067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— LotusCMS RCE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0" y="30906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640080" y="3749040"/>
            <a:ext cx="1088136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0" name="Image 3" descr="/home/claude/work2/pptxbuild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10" y="401193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38679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— SQL Injection (sqlmap)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10332720" y="38679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640080" y="4526280"/>
            <a:ext cx="1088136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" y="4663440"/>
            <a:ext cx="502920" cy="5029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5" name="Image 4" descr="/home/claude/work2/pptxbuild/icons/user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810" y="478917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17320" y="46451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access &amp; privilege escalation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10332720" y="464515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2C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Shape 21"/>
          <p:cNvSpPr/>
          <p:nvPr/>
        </p:nvSpPr>
        <p:spPr>
          <a:xfrm>
            <a:off x="640080" y="5303520"/>
            <a:ext cx="1088136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30" name="Image 5" descr="/home/claude/work2/pptxbuild/icons/warn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810" y="556641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417320" y="54223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risk ratings &amp; recommendations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10332720" y="54223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25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0E4D33"/>
          </a:solidFill>
          <a:ln/>
        </p:spPr>
      </p:sp>
      <p:pic>
        <p:nvPicPr>
          <p:cNvPr id="6" name="Image 0" descr="/home/claude/work2/pptxbuild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01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Kioptrix Level 3 (VM3) — 192.168.56.106 / kioptrix3.com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VirtualBox host-only lab network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network services and the Gallarific/LotusCMS web app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approach — no credentials provided at start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161B22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874520"/>
            <a:ext cx="548640" cy="548640"/>
          </a:xfrm>
          <a:prstGeom prst="ellipse">
            <a:avLst/>
          </a:prstGeom>
          <a:solidFill>
            <a:srgbClr val="5C1420"/>
          </a:solidFill>
          <a:ln/>
        </p:spPr>
      </p:sp>
      <p:pic>
        <p:nvPicPr>
          <p:cNvPr id="11" name="Image 1" descr="/home/claude/work2/pptxbuild/icons/fl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0116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901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6060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services and web app parameters for weaknesses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an initial foothold via any viable vulnerability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privileges to root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tools, evidence, and reproducible steps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(PTES-Aligned)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57300" y="3314700"/>
            <a:ext cx="964692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834640"/>
            <a:ext cx="960120" cy="9601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6" name="Image 0" descr="/home/claude/work2/pptxbuild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71" y="3084271"/>
            <a:ext cx="460858" cy="4608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2834640"/>
            <a:ext cx="960120" cy="960120"/>
          </a:xfrm>
          <a:prstGeom prst="ellipse">
            <a:avLst/>
          </a:prstGeom>
          <a:ln w="25400">
            <a:solidFill>
              <a:srgbClr val="39D98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39044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385060" y="2834640"/>
            <a:ext cx="960120" cy="9601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0" name="Image 1" descr="/home/claude/work2/pptxbuild/icons/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691" y="3084271"/>
            <a:ext cx="460858" cy="46085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385060" y="2834640"/>
            <a:ext cx="960120" cy="960120"/>
          </a:xfrm>
          <a:prstGeom prst="ellipse">
            <a:avLst/>
          </a:prstGeom>
          <a:ln w="25400">
            <a:solidFill>
              <a:srgbClr val="39D98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065020" y="39044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992880" y="2834640"/>
            <a:ext cx="960120" cy="9601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4" name="Image 2" descr="/home/claude/work2/pptxbuild/icons/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511" y="3084271"/>
            <a:ext cx="460858" cy="46085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992880" y="2834640"/>
            <a:ext cx="960120" cy="960120"/>
          </a:xfrm>
          <a:prstGeom prst="ellipse">
            <a:avLst/>
          </a:prstGeom>
          <a:ln w="25400">
            <a:solidFill>
              <a:srgbClr val="F2C94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3672840" y="39044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600700" y="2834640"/>
            <a:ext cx="960120" cy="9601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8" name="Image 3" descr="/home/claude/work2/pptxbuild/icons/b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0331" y="3084271"/>
            <a:ext cx="460858" cy="46085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600700" y="2834640"/>
            <a:ext cx="960120" cy="960120"/>
          </a:xfrm>
          <a:prstGeom prst="ellipse">
            <a:avLst/>
          </a:prstGeom>
          <a:ln w="25400">
            <a:solidFill>
              <a:srgbClr val="E6394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80660" y="39044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7208520" y="2834640"/>
            <a:ext cx="960120" cy="9601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2" name="Image 4" descr="/home/claude/work2/pptxbuild/icons/termin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8151" y="3084271"/>
            <a:ext cx="460858" cy="460858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208520" y="2834640"/>
            <a:ext cx="960120" cy="960120"/>
          </a:xfrm>
          <a:prstGeom prst="ellipse">
            <a:avLst/>
          </a:prstGeom>
          <a:ln w="25400">
            <a:solidFill>
              <a:srgbClr val="F2C94C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6888480" y="39044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Post-Exploit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8816340" y="2834640"/>
            <a:ext cx="960120" cy="9601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6" name="Image 5" descr="/home/claude/work2/pptxbuild/icons/user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5971" y="3084271"/>
            <a:ext cx="460858" cy="46085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8816340" y="2834640"/>
            <a:ext cx="960120" cy="960120"/>
          </a:xfrm>
          <a:prstGeom prst="ellipse">
            <a:avLst/>
          </a:prstGeom>
          <a:ln w="25400">
            <a:solidFill>
              <a:srgbClr val="E63946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8496300" y="39044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 Esc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10424160" y="2834640"/>
            <a:ext cx="960120" cy="96012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30" name="Image 6" descr="/home/claude/work2/pptxbuild/icons/fileco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73791" y="3084271"/>
            <a:ext cx="460858" cy="460858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10424160" y="2834640"/>
            <a:ext cx="960120" cy="960120"/>
          </a:xfrm>
          <a:prstGeom prst="ellipse">
            <a:avLst/>
          </a:prstGeom>
          <a:ln w="25400">
            <a:solidFill>
              <a:srgbClr val="58A6FF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10104120" y="39044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50" dirty="0"/>
          </a:p>
        </p:txBody>
      </p:sp>
      <p:sp>
        <p:nvSpPr>
          <p:cNvPr id="33" name="Text 24"/>
          <p:cNvSpPr txBox="1"/>
          <p:nvPr/>
        </p:nvSpPr>
        <p:spPr>
          <a:xfrm>
            <a:off x="548640" y="48463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engagement uncovered two independent, chainable web vulnerabilities: SQL injection and an unauthenticated CMS RCE.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Surface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1005840" cy="10058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5" name="Image 0" descr="/home/claude/work2/pptxbuild/icons/usersecr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8117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192.168.56.102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737360" y="3063240"/>
            <a:ext cx="246888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4297680" y="2331720"/>
            <a:ext cx="1463040" cy="1463040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9" name="Image 1" descr="/home/claude/work2/pptxbuild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701" y="2726741"/>
            <a:ext cx="672998" cy="67299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97680" y="2331720"/>
            <a:ext cx="1463040" cy="1463040"/>
          </a:xfrm>
          <a:prstGeom prst="ellipse">
            <a:avLst/>
          </a:prstGeom>
          <a:ln w="25400">
            <a:solidFill>
              <a:srgbClr val="39D98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74904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192.168.56.106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760720" y="3063240"/>
            <a:ext cx="109728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58000" y="173736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086600" y="18470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— 22/tcp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086600" y="22402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OpenSSH 4.7p1 (Debian)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760720" y="3063240"/>
            <a:ext cx="1097280" cy="82296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0" y="356616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086600" y="36758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— 80/tcp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7086600" y="40690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2.2.8 / PHP 5.2.4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5806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open services, both fingerprinted as end-of-life software — the HTTP service (port 80) hosts the vulnerable web application.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RECONNAISSANCE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Discovery &amp; Port Scanning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5321808" cy="239572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5" name="Image 0" descr="/home/claude/work2/imgs/ordered/01_nmap_host_disco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5336"/>
            <a:ext cx="5266944" cy="23957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397764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host sweep — 192.168.56.0/24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80176" y="1545336"/>
            <a:ext cx="5321808" cy="239572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8" name="Image 1" descr="/home/claude/work2/imgs/ordered/02_nmap_full_portsc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1600200"/>
            <a:ext cx="5321808" cy="23408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80176" y="397764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port/service scan of the target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206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sweep identified 4 live hosts, including the target at .106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scan confirms only SSH and HTTP are reachable — a small, well-defined attack surface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ENUMERATION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 &amp; Directory Discovery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5321808" cy="276148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3776" y="434340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 smtClean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 </a:t>
            </a: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'Got Goat? Security' </a:t>
            </a:r>
            <a:r>
              <a:rPr lang="en-US" sz="1100" i="1" dirty="0" smtClean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i="1" dirty="0" err="1" smtClean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LotusCMS</a:t>
            </a:r>
            <a:r>
              <a:rPr lang="en-US" sz="1100" i="1" dirty="0" smtClean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80176" y="1545336"/>
            <a:ext cx="5321808" cy="276148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8" name="Image 1" descr="/home/claude/work2/imgs/ordered/06_gobuster_dirscan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294" y="1600200"/>
            <a:ext cx="5231690" cy="2651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80176" y="434340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Gobuster reveals /cache /core /data /gallery /modules /phpmyadmin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  <p:pic>
        <p:nvPicPr>
          <p:cNvPr id="12" name="Picture 11"/>
          <p:cNvPicPr/>
          <p:nvPr/>
        </p:nvPicPr>
        <p:blipFill>
          <a:blip r:embed="rId4"/>
          <a:stretch>
            <a:fillRect/>
          </a:stretch>
        </p:blipFill>
        <p:spPr>
          <a:xfrm>
            <a:off x="548640" y="1545336"/>
            <a:ext cx="5266944" cy="27614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EXPLOITATION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LotusCMS 3.0 — Unauthenticated RCE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5321808" cy="349300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5" name="Image 0" descr="/home/claude/work2/imgs/ordered/08_lotuscms_exploit_vuln_sh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545336"/>
            <a:ext cx="5321808" cy="34930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507492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confirms PHP code injection; shell caught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80176" y="1545336"/>
            <a:ext cx="5321808" cy="349300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8" name="Image 1" descr="/home/claude/work2/imgs/ordered/09_nc_shell_pty_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1600200"/>
            <a:ext cx="5321808" cy="34381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80176" y="507492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shell as www-data; web root listed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POST-EXPLOITATION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Clue in Company Policy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5321808" cy="367588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5" name="Image 0" descr="/home/claude/work2/imgs/ordered/10_cat_etc_passw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266944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525780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/etc/passwd reveals local users 'dreg' &amp; 'loneferret'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80176" y="1545336"/>
            <a:ext cx="5321808" cy="367588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8" name="Image 1" descr="/home/claude/work2/imgs/ordered/12_home_loneferret_companypoli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545336"/>
            <a:ext cx="5212080" cy="36758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80176" y="525780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CompanyPolicy.README: staff must use 'sudo ht'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EXPLOITATION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for SQL Injection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5321808" cy="367588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5" name="Image 0" descr="/home/claude/work2/imgs/ordered/14_gallery_photo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545336"/>
            <a:ext cx="5321808" cy="36758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525780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gallery.php?id=1&amp;sort=photoid — the injectable endpoint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80176" y="1545336"/>
            <a:ext cx="5321808" cy="367588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8" name="Image 1" descr="/home/claude/work2/imgs/ordered/17_etc_hosts_af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1545336"/>
            <a:ext cx="5321808" cy="36758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80176" y="525780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/etc/hosts updated to resolve kioptrix3.com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EXPLOITATION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 via sqlmap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499616"/>
            <a:ext cx="5321808" cy="404164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5" name="Image 0" descr="/home/claude/work2/imgs/ordered/19_sqlmap_dbs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4" y="2371725"/>
            <a:ext cx="5341240" cy="31695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557784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Boolean/error/time-based &amp; UNION SQLi confirmed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80176" y="1499616"/>
            <a:ext cx="5321808" cy="404164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8" name="Image 1" descr="/home/claude/work2/imgs/ordered/21_sqlmap_tables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2466630"/>
            <a:ext cx="5321808" cy="307463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80176" y="557784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'dev_accounts' table discovered in the gallery DB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  <p:pic>
        <p:nvPicPr>
          <p:cNvPr id="13" name="Picture 12"/>
          <p:cNvPicPr/>
          <p:nvPr/>
        </p:nvPicPr>
        <p:blipFill>
          <a:blip r:embed="rId5"/>
          <a:stretch>
            <a:fillRect/>
          </a:stretch>
        </p:blipFill>
        <p:spPr>
          <a:xfrm>
            <a:off x="493776" y="1501539"/>
            <a:ext cx="5321807" cy="1085850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6"/>
          <a:stretch>
            <a:fillRect/>
          </a:stretch>
        </p:blipFill>
        <p:spPr>
          <a:xfrm>
            <a:off x="5980176" y="1480566"/>
            <a:ext cx="5321808" cy="9860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EXPLOITATION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Credentials Dumped &amp; Cracked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962656" y="1453896"/>
            <a:ext cx="7790688" cy="408736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5" name="Image 0" descr="/home/claude/work2/imgs/ordered/23_sqlmap_dump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56" y="2194560"/>
            <a:ext cx="7741553" cy="335243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962656" y="5577840"/>
            <a:ext cx="7790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sqlmap dumps dev_accounts and cracks the hashes automatically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2286000" cy="3108960"/>
          </a:xfrm>
          <a:prstGeom prst="roundRect">
            <a:avLst>
              <a:gd name="adj" fmla="val 4000"/>
            </a:avLst>
          </a:prstGeom>
          <a:solidFill>
            <a:srgbClr val="1C2530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34440" y="2194560"/>
            <a:ext cx="731520" cy="731520"/>
          </a:xfrm>
          <a:prstGeom prst="ellipse">
            <a:avLst/>
          </a:prstGeom>
          <a:solidFill>
            <a:srgbClr val="0E4D33"/>
          </a:solidFill>
          <a:ln/>
        </p:spPr>
      </p:sp>
      <p:pic>
        <p:nvPicPr>
          <p:cNvPr id="9" name="Image 1" descr="/home/claude/work2/pptxbuild/icons/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2377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31089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dreg</a:t>
            </a:r>
            <a:endParaRPr lang="en-US" sz="1300" dirty="0"/>
          </a:p>
          <a:p>
            <a:pPr marL="0" indent="0" algn="ctr"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Mast3r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loneferret</a:t>
            </a:r>
            <a:endParaRPr lang="en-US" sz="13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starwars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  <p:pic>
        <p:nvPicPr>
          <p:cNvPr id="13" name="Picture 12"/>
          <p:cNvPicPr/>
          <p:nvPr/>
        </p:nvPicPr>
        <p:blipFill>
          <a:blip r:embed="rId5"/>
          <a:stretch>
            <a:fillRect/>
          </a:stretch>
        </p:blipFill>
        <p:spPr>
          <a:xfrm>
            <a:off x="2962656" y="1441557"/>
            <a:ext cx="3801702" cy="7530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THE RCE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eval() Injection Proof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5321808" cy="367588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5" name="Image 0" descr="/home/claude/work2/imgs/ordered/25_eval_injection_php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5336"/>
            <a:ext cx="5266944" cy="36210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525780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phpinfo() executed via the injection point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80176" y="1545336"/>
            <a:ext cx="5321808" cy="367588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8" name="Image 1" descr="/home/claude/work2/imgs/ordered/26_eval_injection_id_r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175635"/>
            <a:ext cx="5212080" cy="19907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80176" y="525780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'id' command confirms OS command execution as www-data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  <p:pic>
        <p:nvPicPr>
          <p:cNvPr id="12" name="Picture 11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608" y="1490041"/>
            <a:ext cx="5239512" cy="1685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CREDENTIAL ACCESS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Verification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5321808" cy="367588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5" name="Image 0" descr="/home/claude/work2/imgs/ordered/28_gconfig_cre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545337"/>
            <a:ext cx="5321808" cy="3675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525780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gconfig.php — MySQL root credentials in cleartext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80176" y="1545336"/>
            <a:ext cx="5321808" cy="367588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980176" y="525780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phpMyAdmin confirms </a:t>
            </a:r>
            <a:r>
              <a:rPr lang="en-US" sz="1100" i="1" dirty="0" smtClean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  <p:pic>
        <p:nvPicPr>
          <p:cNvPr id="12" name="Picture 11"/>
          <p:cNvPicPr/>
          <p:nvPr/>
        </p:nvPicPr>
        <p:blipFill>
          <a:blip r:embed="rId4"/>
          <a:stretch>
            <a:fillRect/>
          </a:stretch>
        </p:blipFill>
        <p:spPr>
          <a:xfrm>
            <a:off x="5980176" y="1545337"/>
            <a:ext cx="5321807" cy="367588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PRIVILEGE ESCALATION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Cracked Credentials over SSH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5321808" cy="376732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5" name="Image 0" descr="/home/claude/work2/imgs/ordered/33_ssh_dreg_sudo_f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7" y="1545336"/>
            <a:ext cx="5321808" cy="3767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534924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'dreg' logs in but has no sudo rights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80176" y="1545336"/>
            <a:ext cx="5321808" cy="376732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8" name="Image 1" descr="/home/claude/work2/imgs/ordered/34_ssh_loneferret_sudo_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1545336"/>
            <a:ext cx="5321807" cy="3767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80176" y="534924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'loneferret' has NOPASSWD rights to run 'ht'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PRIVILEGE ESCALATION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Abusing 'ht' to Rewrite /etc/sudoers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5321808" cy="376732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5" name="Image 0" descr="/home/claude/work2/imgs/ordered/38_sudoers_before_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545336"/>
            <a:ext cx="5321808" cy="3767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534924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restricted sudoers entry for 'loneferret'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80176" y="1545336"/>
            <a:ext cx="5321808" cy="376732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8" name="Image 1" descr="/home/claude/work2/imgs/ordered/39_sudoers_after_ed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1545336"/>
            <a:ext cx="5266944" cy="3767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80176" y="534924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Rewritten to ALL=(ALL) ALL — unrestricted sudo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COMPROMISE CONFIRMED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Access Achieved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5321808" cy="376732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5" name="Image 0" descr="/home/claude/work2/imgs/ordered/40_root_shell_congr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25" y="3189351"/>
            <a:ext cx="5359911" cy="215988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534924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'sudo su' now succeeds — root shell obtained; Congrats.txt read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80176" y="1545336"/>
            <a:ext cx="5321808" cy="376732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8" name="Image 1" descr="/home/claude/work2/imgs/ordered/42_root_final_pro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900457"/>
            <a:ext cx="5212080" cy="305708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80176" y="534924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'whoami' returns 'root' — final confirmation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  <p:pic>
        <p:nvPicPr>
          <p:cNvPr id="12" name="Picture 11"/>
          <p:cNvPicPr/>
          <p:nvPr/>
        </p:nvPicPr>
        <p:blipFill>
          <a:blip r:embed="rId5"/>
          <a:stretch>
            <a:fillRect/>
          </a:stretch>
        </p:blipFill>
        <p:spPr>
          <a:xfrm>
            <a:off x="474725" y="1417318"/>
            <a:ext cx="5340859" cy="17354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Attack Chain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5" name="Image 0" descr="/home/claude/work2/pptxbuild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1509492"/>
            <a:ext cx="199705" cy="1997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ln w="19050">
            <a:solidFill>
              <a:srgbClr val="39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0664" y="1801368"/>
            <a:ext cx="0" cy="13716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0" y="1417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2514600" y="14173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Apache/PHP/SSH stack fingerprinted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1920240"/>
            <a:ext cx="384048" cy="384048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1" name="Image 1" descr="/home/claude/work2/pptxbuild/icons/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2012412"/>
            <a:ext cx="199705" cy="199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1920240"/>
            <a:ext cx="384048" cy="384048"/>
          </a:xfrm>
          <a:prstGeom prst="ellipse">
            <a:avLst/>
          </a:prstGeom>
          <a:ln w="19050">
            <a:solidFill>
              <a:srgbClr val="39D98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40664" y="2304288"/>
            <a:ext cx="0" cy="13716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97280" y="1920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2514600" y="192024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LotusCMS admin panel &amp; hidden dirs found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7" name="Image 2" descr="/home/claude/work2/pptxbuild/icons/b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2515332"/>
            <a:ext cx="199705" cy="19970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ln w="19050">
            <a:solidFill>
              <a:srgbClr val="E6394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0664" y="2807208"/>
            <a:ext cx="0" cy="13716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097280" y="2423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2514600" y="242316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LotusCMS eval() RCE → www-data shell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2926080"/>
            <a:ext cx="384048" cy="384048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3" name="Image 3" descr="/home/claude/work2/pptxbuild/icons/file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2" y="3018252"/>
            <a:ext cx="199705" cy="19970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48640" y="2926080"/>
            <a:ext cx="384048" cy="384048"/>
          </a:xfrm>
          <a:prstGeom prst="ellipse">
            <a:avLst/>
          </a:prstGeom>
          <a:ln w="19050">
            <a:solidFill>
              <a:srgbClr val="F2C94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0664" y="3310128"/>
            <a:ext cx="0" cy="13716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1097280" y="2926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2514600" y="292608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CompanyPolicy.README hints at a privileged 'ht' tool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3429000"/>
            <a:ext cx="384048" cy="384048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9" name="Image 4" descr="/home/claude/work2/pptxbuild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12" y="3521172"/>
            <a:ext cx="199705" cy="19970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548640" y="3429000"/>
            <a:ext cx="384048" cy="384048"/>
          </a:xfrm>
          <a:prstGeom prst="ellipse">
            <a:avLst/>
          </a:prstGeom>
          <a:ln w="19050">
            <a:solidFill>
              <a:srgbClr val="E63946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40664" y="3813048"/>
            <a:ext cx="0" cy="13716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1097280" y="3429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2514600" y="342900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dumps dev_accounts via sqlmap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35" name="Image 5" descr="/home/claude/work2/pptxbuild/icons/ke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812" y="4024092"/>
            <a:ext cx="199705" cy="199705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ln w="19050">
            <a:solidFill>
              <a:srgbClr val="F2C94C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40664" y="4315968"/>
            <a:ext cx="0" cy="13716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1097280" y="3931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Loot</a:t>
            </a:r>
            <a:endParaRPr lang="en-US" sz="1250" dirty="0"/>
          </a:p>
        </p:txBody>
      </p:sp>
      <p:sp>
        <p:nvSpPr>
          <p:cNvPr id="39" name="Text 31"/>
          <p:cNvSpPr txBox="1"/>
          <p:nvPr/>
        </p:nvSpPr>
        <p:spPr>
          <a:xfrm>
            <a:off x="2514600" y="3931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hashes cracked: dreg = Mast3r, loneferret = starwars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41" name="Image 6" descr="/home/claude/work2/pptxbuild/icons/l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812" y="4527012"/>
            <a:ext cx="199705" cy="199705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ln w="19050">
            <a:solidFill>
              <a:srgbClr val="F2C94C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740664" y="4818888"/>
            <a:ext cx="0" cy="13716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1097280" y="4434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lang="en-US" sz="1250" dirty="0"/>
          </a:p>
        </p:txBody>
      </p:sp>
      <p:sp>
        <p:nvSpPr>
          <p:cNvPr id="45" name="Text 36"/>
          <p:cNvSpPr txBox="1"/>
          <p:nvPr/>
        </p:nvSpPr>
        <p:spPr>
          <a:xfrm>
            <a:off x="2514600" y="443484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credentials reused over SSH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548640" y="4937760"/>
            <a:ext cx="384048" cy="384048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47" name="Image 7" descr="/home/claude/work2/pptxbuild/icons/usershie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812" y="5029932"/>
            <a:ext cx="199705" cy="199705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548640" y="4937760"/>
            <a:ext cx="384048" cy="384048"/>
          </a:xfrm>
          <a:prstGeom prst="ellipse">
            <a:avLst/>
          </a:prstGeom>
          <a:ln w="19050">
            <a:solidFill>
              <a:srgbClr val="E63946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740664" y="5321808"/>
            <a:ext cx="0" cy="13716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1097280" y="4937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250" dirty="0"/>
          </a:p>
        </p:txBody>
      </p:sp>
      <p:sp>
        <p:nvSpPr>
          <p:cNvPr id="51" name="Text 41"/>
          <p:cNvSpPr txBox="1"/>
          <p:nvPr/>
        </p:nvSpPr>
        <p:spPr>
          <a:xfrm>
            <a:off x="2514600" y="493776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'sudo ht' rewrites /etc/sudoers → full root</a:t>
            </a:r>
            <a:endParaRPr lang="en-US" sz="1200" dirty="0"/>
          </a:p>
        </p:txBody>
      </p:sp>
      <p:sp>
        <p:nvSpPr>
          <p:cNvPr id="52" name="Shape 42"/>
          <p:cNvSpPr/>
          <p:nvPr/>
        </p:nvSpPr>
        <p:spPr>
          <a:xfrm>
            <a:off x="548640" y="5440680"/>
            <a:ext cx="384048" cy="384048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53" name="Image 8" descr="/home/claude/work2/pptxbuild/icons/fla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812" y="5532852"/>
            <a:ext cx="199705" cy="199705"/>
          </a:xfrm>
          <a:prstGeom prst="rect">
            <a:avLst/>
          </a:prstGeom>
        </p:spPr>
      </p:pic>
      <p:sp>
        <p:nvSpPr>
          <p:cNvPr id="54" name="Shape 43"/>
          <p:cNvSpPr/>
          <p:nvPr/>
        </p:nvSpPr>
        <p:spPr>
          <a:xfrm>
            <a:off x="548640" y="5440680"/>
            <a:ext cx="384048" cy="384048"/>
          </a:xfrm>
          <a:prstGeom prst="ellipse">
            <a:avLst/>
          </a:prstGeom>
          <a:ln w="19050">
            <a:solidFill>
              <a:srgbClr val="39D98A"/>
            </a:solidFill>
            <a:prstDash val="solid"/>
          </a:ln>
        </p:spPr>
      </p:sp>
      <p:sp>
        <p:nvSpPr>
          <p:cNvPr id="55" name="Text 44"/>
          <p:cNvSpPr txBox="1"/>
          <p:nvPr/>
        </p:nvSpPr>
        <p:spPr>
          <a:xfrm>
            <a:off x="1097280" y="5440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</a:t>
            </a:r>
            <a:endParaRPr lang="en-US" sz="1250" dirty="0"/>
          </a:p>
        </p:txBody>
      </p:sp>
      <p:sp>
        <p:nvSpPr>
          <p:cNvPr id="56" name="Text 45"/>
          <p:cNvSpPr txBox="1"/>
          <p:nvPr/>
        </p:nvSpPr>
        <p:spPr>
          <a:xfrm>
            <a:off x="2514600" y="544068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root access confirmed</a:t>
            </a:r>
            <a:endParaRPr lang="en-US" sz="1200" dirty="0"/>
          </a:p>
        </p:txBody>
      </p:sp>
      <p:sp>
        <p:nvSpPr>
          <p:cNvPr id="57" name="Text 4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8" name="Text 4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Distribution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54864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60020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720840" y="16002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16002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severity findings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92240" y="269748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720840" y="26974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C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2697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severity findings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92240" y="379476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20840" y="379476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9D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37947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severity findings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92240" y="489204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720840" y="48920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7818120" y="4892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severity findings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&amp; Severity (Critical → Low)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0881360" cy="4571996"/>
        </p:xfrm>
        <a:graphic>
          <a:graphicData uri="http://schemas.openxmlformats.org/drawingml/2006/table">
            <a:tbl>
              <a:tblPr/>
              <a:tblGrid>
                <a:gridCol w="8138160"/>
                <a:gridCol w="2743200"/>
              </a:tblGrid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 in gallery.php (id / sort)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Unauthenticated RCE — LotusCMS eval()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Dangerous sudo entitlement ('ht')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host compromise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Cleartext DB credentials in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2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Weak, unsalted MD5 password hashes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2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reuse (app → OS/SSH)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2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Outdated, EOL software stack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9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World-writable web directories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9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Verbose error messages (path disclosure)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6022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6" name="Image 0" descr="/home/claude/work2/pptxbuild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18918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6420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 queries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933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prepared statements everywhere user input reaches SQL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/>
        </p:spPr>
      </p:sp>
      <p:sp>
        <p:nvSpPr>
          <p:cNvPr id="10" name="Shape 7"/>
          <p:cNvSpPr/>
          <p:nvPr/>
        </p:nvSpPr>
        <p:spPr>
          <a:xfrm>
            <a:off x="6355080" y="176022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1" name="Image 1" descr="/home/claude/work2/pptxbuild/icons/b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754" y="18918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166420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 retire CMS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086600" y="19933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eval() on user-controllable input; upgrade LotusCMS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65176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285750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16" name="Image 2" descr="/home/claude/work2/pptxbuild/icons/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4" y="29891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27614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sudo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09067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NOPASSWD rights to editors/shells like 'ht'; audit sudoers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265176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/>
        </p:spPr>
      </p:sp>
      <p:sp>
        <p:nvSpPr>
          <p:cNvPr id="20" name="Shape 15"/>
          <p:cNvSpPr/>
          <p:nvPr/>
        </p:nvSpPr>
        <p:spPr>
          <a:xfrm>
            <a:off x="6355080" y="285750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1" name="Image 3" descr="/home/claude/work2/pptxbuild/icons/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754" y="298917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86600" y="27614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secrets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086600" y="309067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DB credentials out of source; rotate exposed passwords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374904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/>
        </p:spPr>
      </p:sp>
      <p:sp>
        <p:nvSpPr>
          <p:cNvPr id="25" name="Shape 19"/>
          <p:cNvSpPr/>
          <p:nvPr/>
        </p:nvSpPr>
        <p:spPr>
          <a:xfrm>
            <a:off x="731520" y="395478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26" name="Image 4" descr="/home/claude/work2/pptxbuild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194" y="408645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63040" y="385876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properly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1463040" y="41879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bcrypt/argon2 with salting instead of unsalted MD5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72200" y="374904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/>
        </p:spPr>
      </p:sp>
      <p:sp>
        <p:nvSpPr>
          <p:cNvPr id="30" name="Shape 23"/>
          <p:cNvSpPr/>
          <p:nvPr/>
        </p:nvSpPr>
        <p:spPr>
          <a:xfrm>
            <a:off x="6355080" y="395478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31" name="Image 5" descr="/home/claude/work2/pptxbuild/icons/user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754" y="408645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086600" y="385876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credential reuse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7086600" y="41879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passwords between app and OS accounts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484632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/>
        </p:spPr>
      </p:sp>
      <p:sp>
        <p:nvSpPr>
          <p:cNvPr id="35" name="Shape 27"/>
          <p:cNvSpPr/>
          <p:nvPr/>
        </p:nvSpPr>
        <p:spPr>
          <a:xfrm>
            <a:off x="731520" y="505206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36" name="Image 6" descr="/home/claude/work2/pptxbuild/icons/serv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194" y="5183734"/>
            <a:ext cx="285293" cy="285293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463040" y="49560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down permissions</a:t>
            </a:r>
            <a:endParaRPr lang="en-US" sz="1350" dirty="0"/>
          </a:p>
        </p:txBody>
      </p:sp>
      <p:sp>
        <p:nvSpPr>
          <p:cNvPr id="38" name="Text 29"/>
          <p:cNvSpPr txBox="1"/>
          <p:nvPr/>
        </p:nvSpPr>
        <p:spPr>
          <a:xfrm>
            <a:off x="1463040" y="52852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world-writable bits from app directories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6172200" y="484632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/>
        </p:spPr>
      </p:sp>
      <p:sp>
        <p:nvSpPr>
          <p:cNvPr id="40" name="Shape 31"/>
          <p:cNvSpPr/>
          <p:nvPr/>
        </p:nvSpPr>
        <p:spPr>
          <a:xfrm>
            <a:off x="6355080" y="5052060"/>
            <a:ext cx="548640" cy="548640"/>
          </a:xfrm>
          <a:prstGeom prst="ellipse">
            <a:avLst/>
          </a:prstGeom>
          <a:solidFill>
            <a:srgbClr val="1C2530"/>
          </a:solidFill>
          <a:ln/>
        </p:spPr>
      </p:sp>
      <p:pic>
        <p:nvPicPr>
          <p:cNvPr id="41" name="Image 7" descr="/home/claude/work2/pptxbuild/icons/warn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754" y="5183734"/>
            <a:ext cx="285293" cy="285293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086600" y="49560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verbose errors</a:t>
            </a:r>
            <a:endParaRPr lang="en-US" sz="1350" dirty="0"/>
          </a:p>
        </p:txBody>
      </p:sp>
      <p:sp>
        <p:nvSpPr>
          <p:cNvPr id="43" name="Text 33"/>
          <p:cNvSpPr txBox="1"/>
          <p:nvPr/>
        </p:nvSpPr>
        <p:spPr>
          <a:xfrm>
            <a:off x="7086600" y="52852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off PHP display_errors in production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45" name="Text 3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KIOPTRIX 3  •  SQL INJECTION &amp; RCE ATTACK PATH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554480"/>
            <a:ext cx="914400" cy="914400"/>
          </a:xfrm>
          <a:prstGeom prst="ellipse">
            <a:avLst/>
          </a:prstGeom>
          <a:solidFill>
            <a:srgbClr val="0E4D33"/>
          </a:solidFill>
          <a:ln/>
        </p:spPr>
      </p:sp>
      <p:pic>
        <p:nvPicPr>
          <p:cNvPr id="3" name="Image 0" descr="/home/claude/work2/pptxbuil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830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92024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606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Web Vulnerabilities, One Root Shell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49040"/>
            <a:ext cx="9784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and an unauthenticated CMS RCE were both independently exploitable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credential handling and an unsafe sudo rule turned a web shell into full root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was preventable — parameterized queries, patching, and sudo hardening close this chain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623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080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Abdulrahman Wael Nabil   •   Abdulrahman Hossam Shaat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1106</Words>
  <Application>Microsoft Office PowerPoint</Application>
  <PresentationFormat>Custom</PresentationFormat>
  <Paragraphs>250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 UNIT</cp:lastModifiedBy>
  <cp:revision>9</cp:revision>
  <dcterms:created xsi:type="dcterms:W3CDTF">2026-08-30T13:20:18Z</dcterms:created>
  <dcterms:modified xsi:type="dcterms:W3CDTF">2026-09-01T13:18:26Z</dcterms:modified>
</cp:coreProperties>
</file>